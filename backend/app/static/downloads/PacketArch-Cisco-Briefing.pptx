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BCEB"/>
                </a:solidFill>
                <a:latin typeface="Calibri"/>
              </a:rPr>
              <a:t>OT  TRAFFIC  SIMULATION 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800" b="0">
                <a:solidFill>
                  <a:srgbClr val="FFFFFF"/>
                </a:solidFill>
                <a:latin typeface="Calibri Light"/>
              </a:rPr>
              <a:t>Packet</a:t>
            </a:r>
            <a:r>
              <a:rPr sz="8800" b="1">
                <a:solidFill>
                  <a:srgbClr val="FFFFFF"/>
                </a:solidFill>
                <a:latin typeface="Calibri"/>
              </a:rPr>
              <a:t>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CFEAF3"/>
                </a:solidFill>
                <a:latin typeface="Calibri Light"/>
              </a:rPr>
              <a:t>Fingerprint-grade industrial traffic, generated on demand — built with Cisco Cyber Vision in mind.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FB8CC"/>
                </a:solidFill>
                <a:latin typeface="Calibri"/>
              </a:rPr>
              <a:t>CISCO BRIEFING   · 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BCEB"/>
                </a:solidFill>
                <a:latin typeface="Calibr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600" b="0">
                <a:solidFill>
                  <a:srgbClr val="001F2D"/>
                </a:solidFill>
                <a:latin typeface="Calibri Light"/>
              </a:rPr>
              <a:t>You can't </a:t>
            </a:r>
            <a:r>
              <a:rPr sz="3600" b="1">
                <a:solidFill>
                  <a:srgbClr val="005073"/>
                </a:solidFill>
                <a:latin typeface="Calibri"/>
              </a:rPr>
              <a:t>demo, train, or validate</a:t>
            </a:r>
            <a:r>
              <a:rPr sz="3600" b="0">
                <a:solidFill>
                  <a:srgbClr val="001F2D"/>
                </a:solidFill>
                <a:latin typeface="Calibri Light"/>
              </a:rPr>
              <a:t> on a live plant.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5A6A73"/>
                </a:solidFill>
                <a:latin typeface="Calibri Light"/>
              </a:rPr>
              <a:t>OT networks are quiet by design. The traffic Cyber Vision needs to classify a plant only exists inside the plant — until now.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484778" cy="1874519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45720" cy="1874519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302757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BCE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302757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1F2D"/>
                </a:solidFill>
                <a:latin typeface="Calibri"/>
              </a:rPr>
              <a:t>Production is off-limits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3027578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A4A52"/>
                </a:solidFill>
                <a:latin typeface="Calibri"/>
              </a:rPr>
              <a:t>Safety, change control, and uptime mean you can't introduce test traffic into a running OT environment.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3458" y="2468880"/>
            <a:ext cx="3484778" cy="1874519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3458" y="2468880"/>
            <a:ext cx="45720" cy="1874519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2651760"/>
            <a:ext cx="302757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BCEB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2058" y="2971800"/>
            <a:ext cx="302757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1F2D"/>
                </a:solidFill>
                <a:latin typeface="Calibri"/>
              </a:rPr>
              <a:t>Lab PCAPs don't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2058" y="3429000"/>
            <a:ext cx="3027578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A4A52"/>
                </a:solidFill>
                <a:latin typeface="Calibri"/>
              </a:rPr>
              <a:t>Captures are frozen, narrow, and don't adapt. A handful of PCAPs can't represent the diversity of a real plant.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6836" y="2468880"/>
            <a:ext cx="3484778" cy="1874519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6836" y="2468880"/>
            <a:ext cx="45720" cy="1874519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5436" y="2651760"/>
            <a:ext cx="302757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BCEB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5436" y="2971800"/>
            <a:ext cx="302757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1F2D"/>
                </a:solidFill>
                <a:latin typeface="Calibri"/>
              </a:rPr>
              <a:t>Generators look fake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5436" y="3429000"/>
            <a:ext cx="3027578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A4A52"/>
                </a:solidFill>
                <a:latin typeface="Calibri"/>
              </a:rPr>
              <a:t>Generic packet tools don't carry the vendor OUI, sysObjectID, or protocol identity that Cyber Vision keys 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17720"/>
            <a:ext cx="10911535" cy="914400"/>
          </a:xfrm>
          <a:prstGeom prst="rect">
            <a:avLst/>
          </a:prstGeom>
          <a:solidFill>
            <a:srgbClr val="00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82312"/>
            <a:ext cx="10180015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 Light"/>
              </a:rPr>
              <a:t>The unmet need:  </a:t>
            </a:r>
            <a:r>
              <a:rPr sz="1800" b="1">
                <a:solidFill>
                  <a:srgbClr val="00BCEB"/>
                </a:solidFill>
                <a:latin typeface="Calibri"/>
              </a:rPr>
              <a:t>on-demand, fingerprint-grade OT traffic</a:t>
            </a:r>
            <a:r>
              <a:rPr sz="1800" b="0">
                <a:solidFill>
                  <a:srgbClr val="FFFFFF"/>
                </a:solidFill>
                <a:latin typeface="Calibri Light"/>
              </a:rPr>
              <a:t>  that Cyber Vision treats as the real thing.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PACKETARCH  ·  CISCO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644652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005073"/>
                </a:solidFill>
                <a:latin typeface="Calibri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BCEB"/>
                </a:solidFill>
                <a:latin typeface="Calibri"/>
              </a:rPr>
              <a:t>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600" b="0">
                <a:solidFill>
                  <a:srgbClr val="001F2D"/>
                </a:solidFill>
                <a:latin typeface="Calibri Light"/>
              </a:rPr>
              <a:t>A </a:t>
            </a:r>
            <a:r>
              <a:rPr sz="3600" b="1">
                <a:solidFill>
                  <a:srgbClr val="005073"/>
                </a:solidFill>
                <a:latin typeface="Calibri"/>
              </a:rPr>
              <a:t>scenario studio</a:t>
            </a:r>
            <a:r>
              <a:rPr sz="3600" b="0">
                <a:solidFill>
                  <a:srgbClr val="001F2D"/>
                </a:solidFill>
                <a:latin typeface="Calibri Light"/>
              </a:rPr>
              <a:t> for industrial networks.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5A6A73"/>
                </a:solidFill>
                <a:latin typeface="Calibri Light"/>
              </a:rPr>
              <a:t>Design a plant visually. Generate traffic that looks like that plant. Run it offline as PCAP or live through remote agents.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313432"/>
            <a:ext cx="460537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1F2D"/>
                </a:solidFill>
                <a:latin typeface="Calibri"/>
              </a:rPr>
              <a:t>Visual Scenario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651760"/>
            <a:ext cx="4605375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A4A52"/>
                </a:solidFill>
                <a:latin typeface="Calibri"/>
              </a:rPr>
              <a:t>Purdue-aware canvas, IEC 62443 conduits, drag-and-drop devices and zones.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7" y="2331720"/>
            <a:ext cx="457200" cy="45720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4447" y="233172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6239" y="2313432"/>
            <a:ext cx="460537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1F2D"/>
                </a:solidFill>
                <a:latin typeface="Calibri"/>
              </a:rPr>
              <a:t>Vendor Fingerprint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239" y="2651760"/>
            <a:ext cx="4605375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A4A52"/>
                </a:solidFill>
                <a:latin typeface="Calibri"/>
              </a:rPr>
              <a:t>295 device templates across 18 OT vendors — Siemens, Rockwell, Schneider, Honeywell, ABB, Yokogawa, Cisco, and more.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64992"/>
            <a:ext cx="460537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1F2D"/>
                </a:solidFill>
                <a:latin typeface="Calibri"/>
              </a:rPr>
              <a:t>Six Production Protocols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703320"/>
            <a:ext cx="4605375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A4A52"/>
                </a:solidFill>
                <a:latin typeface="Calibri"/>
              </a:rPr>
              <a:t>Modbus TCP, EtherNet/IP, PROFINET, S7comm, BACnet/IP, SNMP/NTCIP — with full identity payloads.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3383280"/>
            <a:ext cx="457200" cy="45720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447" y="338328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6239" y="3364992"/>
            <a:ext cx="460537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1F2D"/>
                </a:solidFill>
                <a:latin typeface="Calibri"/>
              </a:rPr>
              <a:t>Live Agents or PCAP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6239" y="3703320"/>
            <a:ext cx="4605375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A4A52"/>
                </a:solidFill>
                <a:latin typeface="Calibri"/>
              </a:rPr>
              <a:t>Remote agents inject real packets on a SPAN port, or generate offline PCAPs for analysis and replay.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416552"/>
            <a:ext cx="460537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1F2D"/>
                </a:solidFill>
                <a:latin typeface="Calibri"/>
              </a:rPr>
              <a:t>AI Scenario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754880"/>
            <a:ext cx="4605375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A4A52"/>
                </a:solidFill>
                <a:latin typeface="Calibri"/>
              </a:rPr>
              <a:t>Natural-language to full plant in seconds. Backed by Claude, OpenAI, or Cisco's CIRCUIT gateway.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4447" y="4434840"/>
            <a:ext cx="457200" cy="45720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4447" y="443484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6239" y="4416552"/>
            <a:ext cx="460537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1F2D"/>
                </a:solidFill>
                <a:latin typeface="Calibri"/>
              </a:rPr>
              <a:t>Attack &amp; Adaptive Engines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6239" y="4754880"/>
            <a:ext cx="4605375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A4A52"/>
                </a:solidFill>
                <a:latin typeface="Calibri"/>
              </a:rPr>
              <a:t>TRITON / PIPEDREAM / INDUSTROYER playbooks, MITRE ATT&amp;CK for ICS mapping, time-of-day traffic drift.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532120"/>
            <a:ext cx="10911535" cy="18288"/>
          </a:xfrm>
          <a:prstGeom prst="rect">
            <a:avLst/>
          </a:prstGeom>
          <a:solidFill>
            <a:srgbClr val="E0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669280"/>
            <a:ext cx="2182307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3200" b="0" i="0">
                <a:solidFill>
                  <a:srgbClr val="005073"/>
                </a:solidFill>
                <a:latin typeface="Calibri Light"/>
              </a:rPr>
              <a:t>295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172200"/>
            <a:ext cx="2182307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5A6A73"/>
                </a:solidFill>
                <a:latin typeface="Calibri"/>
              </a:rPr>
              <a:t>DEVICE FINGERPRINTS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22387" y="5669280"/>
            <a:ext cx="2182307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3200" b="0" i="0">
                <a:solidFill>
                  <a:srgbClr val="005073"/>
                </a:solidFill>
                <a:latin typeface="Calibri Light"/>
              </a:rPr>
              <a:t>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2387" y="6172200"/>
            <a:ext cx="2182307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5A6A73"/>
                </a:solidFill>
                <a:latin typeface="Calibri"/>
              </a:rPr>
              <a:t>OT VENDORS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4694" y="5669280"/>
            <a:ext cx="2182307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3200" b="0" i="0">
                <a:solidFill>
                  <a:srgbClr val="005073"/>
                </a:solidFill>
                <a:latin typeface="Calibri Light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04694" y="6172200"/>
            <a:ext cx="2182307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5A6A73"/>
                </a:solidFill>
                <a:latin typeface="Calibri"/>
              </a:rPr>
              <a:t>PROTOCOLS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7001" y="5669280"/>
            <a:ext cx="2182307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3200" b="0" i="0">
                <a:solidFill>
                  <a:srgbClr val="005073"/>
                </a:solidFill>
                <a:latin typeface="Calibri Light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87001" y="6172200"/>
            <a:ext cx="2182307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5A6A73"/>
                </a:solidFill>
                <a:latin typeface="Calibri"/>
              </a:rPr>
              <a:t>INDUSTRY VERTICALS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9308" y="5669280"/>
            <a:ext cx="2182307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3200" b="0" i="0">
                <a:solidFill>
                  <a:srgbClr val="005073"/>
                </a:solidFill>
                <a:latin typeface="Calibri Light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9308" y="6172200"/>
            <a:ext cx="2182307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5A6A73"/>
                </a:solidFill>
                <a:latin typeface="Calibri"/>
              </a:rPr>
              <a:t>ATTACK PLAYBOOKS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PACKETARCH  ·  CISCO BRIEFING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39935" y="644652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005073"/>
                </a:solidFill>
                <a:latin typeface="Calibri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BCEB"/>
                </a:solidFill>
                <a:latin typeface="Calibri"/>
              </a:rPr>
              <a:t>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600" b="0">
                <a:solidFill>
                  <a:srgbClr val="001F2D"/>
                </a:solidFill>
                <a:latin typeface="Calibri Light"/>
              </a:rPr>
              <a:t>From </a:t>
            </a:r>
            <a:r>
              <a:rPr sz="3600" b="1">
                <a:solidFill>
                  <a:srgbClr val="005073"/>
                </a:solidFill>
                <a:latin typeface="Calibri"/>
              </a:rPr>
              <a:t>idea to live demo</a:t>
            </a:r>
            <a:r>
              <a:rPr sz="3600" b="0">
                <a:solidFill>
                  <a:srgbClr val="001F2D"/>
                </a:solidFill>
                <a:latin typeface="Calibri Light"/>
              </a:rPr>
              <a:t> in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5A6A73"/>
                </a:solidFill>
                <a:latin typeface="Calibri Light"/>
              </a:rPr>
              <a:t>One sentence into the AI Wizard becomes a complete plant, a fingerprint-grade PCAP, and a Cyber Vision demo ready to run.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2487853" cy="169164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2487853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96312"/>
            <a:ext cx="208551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BCEB"/>
                </a:solidFill>
                <a:latin typeface="Calibri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2085517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01F2D"/>
                </a:solidFill>
                <a:latin typeface="Calibri"/>
              </a:rPr>
              <a:t>Describe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46120"/>
            <a:ext cx="2085517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A4A52"/>
                </a:solidFill>
                <a:latin typeface="Calibri"/>
              </a:rPr>
              <a:t>One sentence into the AI Wizard — the plant, the vendors, the rough size.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933" y="2331720"/>
            <a:ext cx="320040" cy="1691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000" b="1" i="0">
                <a:solidFill>
                  <a:srgbClr val="00BCEB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973" y="2331720"/>
            <a:ext cx="2487853" cy="169164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47973" y="2331720"/>
            <a:ext cx="2487853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9141" y="2496312"/>
            <a:ext cx="208551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BCEB"/>
                </a:solidFill>
                <a:latin typeface="Calibri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9141" y="2788920"/>
            <a:ext cx="2085517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01F2D"/>
                </a:solidFill>
                <a:latin typeface="Calibri"/>
              </a:rPr>
              <a:t>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9141" y="3246120"/>
            <a:ext cx="2085517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A4A52"/>
                </a:solidFill>
                <a:latin typeface="Calibri"/>
              </a:rPr>
              <a:t>Full scenario auto-built — devices, protocols, conduits, fingerprints, flows.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5827" y="2331720"/>
            <a:ext cx="320040" cy="1691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000" b="1" i="0">
                <a:solidFill>
                  <a:srgbClr val="00BCEB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5867" y="2331720"/>
            <a:ext cx="2487853" cy="169164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5867" y="2331720"/>
            <a:ext cx="2487853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7035" y="2496312"/>
            <a:ext cx="208551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BCEB"/>
                </a:solidFill>
                <a:latin typeface="Calibri"/>
              </a:rPr>
              <a:t>STEP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7035" y="2788920"/>
            <a:ext cx="2085517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01F2D"/>
                </a:solidFill>
                <a:latin typeface="Calibri"/>
              </a:rPr>
              <a:t>Export PCAP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035" y="3246120"/>
            <a:ext cx="2085517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A4A52"/>
                </a:solidFill>
                <a:latin typeface="Calibri"/>
              </a:rPr>
              <a:t>One click. Realistic, time-stamped industrial traffic written to a single file.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3721" y="2331720"/>
            <a:ext cx="320040" cy="1691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000" b="1" i="0">
                <a:solidFill>
                  <a:srgbClr val="00BCEB"/>
                </a:solidFill>
                <a:latin typeface="Calibri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63761" y="2331720"/>
            <a:ext cx="2487853" cy="169164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63761" y="2331720"/>
            <a:ext cx="2487853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4929" y="2496312"/>
            <a:ext cx="208551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BCEB"/>
                </a:solidFill>
                <a:latin typeface="Calibri"/>
              </a:rPr>
              <a:t>STEP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4929" y="2788920"/>
            <a:ext cx="2085517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01F2D"/>
                </a:solidFill>
                <a:latin typeface="Calibri"/>
              </a:rPr>
              <a:t>Import to 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4929" y="3246120"/>
            <a:ext cx="2085517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A4A52"/>
                </a:solidFill>
                <a:latin typeface="Calibri"/>
              </a:rPr>
              <a:t>Drop the PCAP into Cyber Vision. Every device classifies on first look. Demo runs.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297680"/>
            <a:ext cx="10911535" cy="2011680"/>
          </a:xfrm>
          <a:prstGeom prst="rect">
            <a:avLst/>
          </a:prstGeom>
          <a:solidFill>
            <a:srgbClr val="00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297680"/>
            <a:ext cx="54864" cy="201168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480560"/>
            <a:ext cx="102714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BCEB"/>
                </a:solidFill>
                <a:latin typeface="Calibri"/>
              </a:rPr>
              <a:t>EXAMPLE  ·  THE MONDAY-MORNING BAKERY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800600"/>
            <a:ext cx="10271455" cy="1371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00" b="0">
                <a:solidFill>
                  <a:srgbClr val="D8E6EC"/>
                </a:solidFill>
                <a:latin typeface="Calibri"/>
              </a:rPr>
              <a:t>Customer asks for a Cyber Vision walkthrough on Monday. You type one sentence into the AI Wizard: </a:t>
            </a:r>
            <a:r>
              <a:rPr sz="1400" b="1">
                <a:solidFill>
                  <a:srgbClr val="FFFFFF"/>
                </a:solidFill>
                <a:latin typeface="Calibri"/>
              </a:rPr>
              <a:t>“commercial bakery — 6 ovens, 2 industrial mixers, a packaging line, and building automation.”</a:t>
            </a:r>
            <a:r>
              <a:rPr sz="1400" b="0">
                <a:solidFill>
                  <a:srgbClr val="D8E6EC"/>
                </a:solidFill>
                <a:latin typeface="Calibri"/>
              </a:rPr>
              <a:t> Minutes later you have a complete plant — Siemens S7-1500 oven controllers on PROFINET, Rockwell ControlLogix on the mixers, BACnet thermostats and AHUs for the BMS, all wired with realistic flow patterns. Click </a:t>
            </a:r>
            <a:r>
              <a:rPr sz="1400" b="1">
                <a:solidFill>
                  <a:srgbClr val="FFFFFF"/>
                </a:solidFill>
                <a:latin typeface="Calibri"/>
              </a:rPr>
              <a:t>Export PCAP</a:t>
            </a:r>
            <a:r>
              <a:rPr sz="1400" b="0">
                <a:solidFill>
                  <a:srgbClr val="D8E6EC"/>
                </a:solidFill>
                <a:latin typeface="Calibri"/>
              </a:rPr>
              <a:t>. Drop the file into Cyber Vision. Every device classifies on first look. Demo done over coffee.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PACKETARCH  ·  CISCO BRIEFING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9935" y="644652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005073"/>
                </a:solidFill>
                <a:latin typeface="Calibri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BCEB"/>
                </a:solidFill>
                <a:latin typeface="Calibri"/>
              </a:rPr>
              <a:t>WHY CISCO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600" b="0">
                <a:solidFill>
                  <a:srgbClr val="001F2D"/>
                </a:solidFill>
                <a:latin typeface="Calibri Light"/>
              </a:rPr>
              <a:t>Built </a:t>
            </a:r>
            <a:r>
              <a:rPr sz="3600" b="1">
                <a:solidFill>
                  <a:srgbClr val="005073"/>
                </a:solidFill>
                <a:latin typeface="Calibri"/>
              </a:rPr>
              <a:t>with Cyber Vision</a:t>
            </a:r>
            <a:r>
              <a:rPr sz="3600" b="0">
                <a:solidFill>
                  <a:srgbClr val="001F2D"/>
                </a:solidFill>
                <a:latin typeface="Calibri Light"/>
              </a:rPr>
              <a:t> in mind.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5A6A73"/>
                </a:solidFill>
                <a:latin typeface="Calibri Light"/>
              </a:rPr>
              <a:t>Every packet is engineered to be classified correctly — the same fields, OIDs, and identifiers CV uses in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5227167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5073"/>
                </a:solidFill>
                <a:latin typeface="Calibri"/>
              </a:rPr>
              <a:t>CYBER VISION NATIVE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07208"/>
            <a:ext cx="5227167" cy="2286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4447" y="2423160"/>
            <a:ext cx="5227167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5073"/>
                </a:solidFill>
                <a:latin typeface="Calibri"/>
              </a:rPr>
              <a:t>WHERE IT PAYS 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2807208"/>
            <a:ext cx="5227167" cy="2286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136392"/>
            <a:ext cx="91440" cy="9144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952847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1">
                <a:solidFill>
                  <a:srgbClr val="001F2D"/>
                </a:solidFill>
                <a:latin typeface="Calibri"/>
              </a:rPr>
              <a:t>Direct CV integration</a:t>
            </a:r>
            <a:r>
              <a:rPr sz="1300">
                <a:solidFill>
                  <a:srgbClr val="3A4A52"/>
                </a:solidFill>
                <a:latin typeface="Calibri"/>
              </a:rPr>
              <a:t> — query the center, match devices, see fingerprint deltas inline.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959352"/>
            <a:ext cx="91440" cy="9144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4952847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1">
                <a:solidFill>
                  <a:srgbClr val="001F2D"/>
                </a:solidFill>
                <a:latin typeface="Calibri"/>
              </a:rPr>
              <a:t>Fingerprint-grade payloads</a:t>
            </a:r>
            <a:r>
              <a:rPr sz="1300">
                <a:solidFill>
                  <a:srgbClr val="3A4A52"/>
                </a:solidFill>
                <a:latin typeface="Calibri"/>
              </a:rPr>
              <a:t> — correct vendor OUI, sysObjectID, Modbus MEI, S7 SZL, BACnet Object_Identifier, CIP Identity Object.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782312"/>
            <a:ext cx="91440" cy="9144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4952847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1">
                <a:solidFill>
                  <a:srgbClr val="001F2D"/>
                </a:solidFill>
                <a:latin typeface="Calibri"/>
              </a:rPr>
              <a:t>CIRCUIT AI provider</a:t>
            </a:r>
            <a:r>
              <a:rPr sz="1300">
                <a:solidFill>
                  <a:srgbClr val="3A4A52"/>
                </a:solidFill>
                <a:latin typeface="Calibri"/>
              </a:rPr>
              <a:t> — scenario generation runs on Cisco's internal LLM gateway, no external API exposure.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605272"/>
            <a:ext cx="91440" cy="9144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4952847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1">
                <a:solidFill>
                  <a:srgbClr val="001F2D"/>
                </a:solidFill>
                <a:latin typeface="Calibri"/>
              </a:rPr>
              <a:t>Air-gapped lab kits</a:t>
            </a:r>
            <a:r>
              <a:rPr sz="1300">
                <a:solidFill>
                  <a:srgbClr val="3A4A52"/>
                </a:solidFill>
                <a:latin typeface="Calibri"/>
              </a:rPr>
              <a:t> — offline tarball bundles ship with everything for isolated or secure labs.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3017520"/>
            <a:ext cx="5227167" cy="265176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07327" y="3227832"/>
            <a:ext cx="91440" cy="91440"/>
          </a:xfrm>
          <a:prstGeom prst="rect">
            <a:avLst/>
          </a:prstGeom>
          <a:solidFill>
            <a:srgbClr val="005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5927" y="3108960"/>
            <a:ext cx="4678527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1">
                <a:solidFill>
                  <a:srgbClr val="001F2D"/>
                </a:solidFill>
                <a:latin typeface="Calibri"/>
              </a:rPr>
              <a:t>Pre-sales demos</a:t>
            </a:r>
            <a:r>
              <a:rPr sz="1300">
                <a:solidFill>
                  <a:srgbClr val="3A4A52"/>
                </a:solidFill>
                <a:latin typeface="Calibri"/>
              </a:rPr>
              <a:t> — stand up a 200-device water plant in minutes and let CV classify it live in front of the customer.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07327" y="4050792"/>
            <a:ext cx="91440" cy="91440"/>
          </a:xfrm>
          <a:prstGeom prst="rect">
            <a:avLst/>
          </a:prstGeom>
          <a:solidFill>
            <a:srgbClr val="005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5927" y="3931920"/>
            <a:ext cx="4678527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1">
                <a:solidFill>
                  <a:srgbClr val="001F2D"/>
                </a:solidFill>
                <a:latin typeface="Calibri"/>
              </a:rPr>
              <a:t>Internal &amp; partner training</a:t>
            </a:r>
            <a:r>
              <a:rPr sz="1300">
                <a:solidFill>
                  <a:srgbClr val="3A4A52"/>
                </a:solidFill>
                <a:latin typeface="Calibri"/>
              </a:rPr>
              <a:t> — hands-on labs for Cisco SEs, TAC, and partners on realistic OT environments — no production access required.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7327" y="4873752"/>
            <a:ext cx="91440" cy="91440"/>
          </a:xfrm>
          <a:prstGeom prst="rect">
            <a:avLst/>
          </a:prstGeom>
          <a:solidFill>
            <a:srgbClr val="005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5927" y="4754880"/>
            <a:ext cx="4678527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1">
                <a:solidFill>
                  <a:srgbClr val="001F2D"/>
                </a:solidFill>
                <a:latin typeface="Calibri"/>
              </a:rPr>
              <a:t>Field enablement</a:t>
            </a:r>
            <a:r>
              <a:rPr sz="1300">
                <a:solidFill>
                  <a:srgbClr val="3A4A52"/>
                </a:solidFill>
                <a:latin typeface="Calibri"/>
              </a:rPr>
              <a:t> — every SE carries a complete OT plant in a laptop, ready to demo any vertical on demand.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PACKETARCH  ·  CISCO BRIEFING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39935" y="644652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005073"/>
                </a:solidFill>
                <a:latin typeface="Calibri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